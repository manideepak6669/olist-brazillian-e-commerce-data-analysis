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(R$K)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Jan'17</c:v>
                  </c:pt>
                  <c:pt idx="1">
                    <c:v>Feb'17</c:v>
                  </c:pt>
                  <c:pt idx="2">
                    <c:v>Mar'17</c:v>
                  </c:pt>
                  <c:pt idx="3">
                    <c:v>Apr'17</c:v>
                  </c:pt>
                  <c:pt idx="4">
                    <c:v>May'17</c:v>
                  </c:pt>
                  <c:pt idx="5">
                    <c:v>Jun'17</c:v>
                  </c:pt>
                  <c:pt idx="6">
                    <c:v>Jul'17</c:v>
                  </c:pt>
                  <c:pt idx="7">
                    <c:v>Aug'17</c:v>
                  </c:pt>
                  <c:pt idx="8">
                    <c:v>Sep'17</c:v>
                  </c:pt>
                  <c:pt idx="9">
                    <c:v>Oct'17</c:v>
                  </c:pt>
                  <c:pt idx="10">
                    <c:v>Nov'17</c:v>
                  </c:pt>
                  <c:pt idx="11">
                    <c:v>Dec'17</c:v>
                  </c:pt>
                  <c:pt idx="12">
                    <c:v>Jan'18</c:v>
                  </c:pt>
                  <c:pt idx="13">
                    <c:v>Feb'18</c:v>
                  </c:pt>
                  <c:pt idx="14">
                    <c:v>Mar'18</c:v>
                  </c:pt>
                  <c:pt idx="15">
                    <c:v>Apr'18</c:v>
                  </c:pt>
                  <c:pt idx="16">
                    <c:v>May'18</c:v>
                  </c:pt>
                  <c:pt idx="17">
                    <c:v>Jun'18</c:v>
                  </c:pt>
                  <c:pt idx="18">
                    <c:v>Jul'18</c:v>
                  </c:pt>
                  <c:pt idx="19">
                    <c:v>Aug'18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52</c:v>
                </c:pt>
                <c:pt idx="1">
                  <c:v>58</c:v>
                </c:pt>
                <c:pt idx="2">
                  <c:v>71</c:v>
                </c:pt>
                <c:pt idx="3">
                  <c:v>74</c:v>
                </c:pt>
                <c:pt idx="4">
                  <c:v>89</c:v>
                </c:pt>
                <c:pt idx="5">
                  <c:v>94</c:v>
                </c:pt>
                <c:pt idx="6">
                  <c:v>102</c:v>
                </c:pt>
                <c:pt idx="7">
                  <c:v>112</c:v>
                </c:pt>
                <c:pt idx="8">
                  <c:v>108</c:v>
                </c:pt>
                <c:pt idx="9">
                  <c:v>121</c:v>
                </c:pt>
                <c:pt idx="10">
                  <c:v>130</c:v>
                </c:pt>
                <c:pt idx="11">
                  <c:v>98</c:v>
                </c:pt>
                <c:pt idx="12">
                  <c:v>145</c:v>
                </c:pt>
                <c:pt idx="13">
                  <c:v>138</c:v>
                </c:pt>
                <c:pt idx="14">
                  <c:v>152</c:v>
                </c:pt>
                <c:pt idx="15">
                  <c:v>141</c:v>
                </c:pt>
                <c:pt idx="16">
                  <c:v>160</c:v>
                </c:pt>
                <c:pt idx="17">
                  <c:v>148</c:v>
                </c:pt>
                <c:pt idx="18">
                  <c:v>135</c:v>
                </c:pt>
                <c:pt idx="19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4B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Shipped</c:v>
                </c:pt>
                <c:pt idx="2">
                  <c:v>Cancelled</c:v>
                </c:pt>
                <c:pt idx="3">
                  <c:v>Unavailable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96478</c:v>
                </c:pt>
                <c:pt idx="1">
                  <c:v>1107</c:v>
                </c:pt>
                <c:pt idx="2">
                  <c:v>625</c:v>
                </c:pt>
                <c:pt idx="3">
                  <c:v>609</c:v>
                </c:pt>
                <c:pt idx="4">
                  <c:v>300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Jan'17</c:v>
                  </c:pt>
                  <c:pt idx="1">
                    <c:v>Mar'17</c:v>
                  </c:pt>
                  <c:pt idx="2">
                    <c:v>May'17</c:v>
                  </c:pt>
                  <c:pt idx="3">
                    <c:v>Jul'17</c:v>
                  </c:pt>
                  <c:pt idx="4">
                    <c:v>Sep'17</c:v>
                  </c:pt>
                  <c:pt idx="5">
                    <c:v>Nov'17</c:v>
                  </c:pt>
                  <c:pt idx="6">
                    <c:v>Jan'18</c:v>
                  </c:pt>
                  <c:pt idx="7">
                    <c:v>Mar'18</c:v>
                  </c:pt>
                  <c:pt idx="8">
                    <c:v>May'18</c:v>
                  </c:pt>
                  <c:pt idx="9">
                    <c:v>Jul'18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800</c:v>
                </c:pt>
                <c:pt idx="1">
                  <c:v>1240</c:v>
                </c:pt>
                <c:pt idx="2">
                  <c:v>1560</c:v>
                </c:pt>
                <c:pt idx="3">
                  <c:v>1890</c:v>
                </c:pt>
                <c:pt idx="4">
                  <c:v>2100</c:v>
                </c:pt>
                <c:pt idx="5">
                  <c:v>3200</c:v>
                </c:pt>
                <c:pt idx="6">
                  <c:v>7000</c:v>
                </c:pt>
                <c:pt idx="7">
                  <c:v>6800</c:v>
                </c:pt>
                <c:pt idx="8">
                  <c:v>7400</c:v>
                </c:pt>
                <c:pt idx="9">
                  <c:v>5800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Health Beauty</c:v>
                  </c:pt>
                  <c:pt idx="1">
                    <c:v>Watches Gifts</c:v>
                  </c:pt>
                  <c:pt idx="2">
                    <c:v>Bed Bath Table</c:v>
                  </c:pt>
                  <c:pt idx="3">
                    <c:v>Sports Leisure</c:v>
                  </c:pt>
                  <c:pt idx="4">
                    <c:v>Computers Acc.</c:v>
                  </c:pt>
                  <c:pt idx="5">
                    <c:v>Furniture Decor</c:v>
                  </c:pt>
                  <c:pt idx="6">
                    <c:v>Cool Stuff</c:v>
                  </c:pt>
                  <c:pt idx="7">
                    <c:v>Housewares</c:v>
                  </c:pt>
                  <c:pt idx="8">
                    <c:v>Auto</c:v>
                  </c:pt>
                  <c:pt idx="9">
                    <c:v>Garden Tools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1258</c:v>
                </c:pt>
                <c:pt idx="1">
                  <c:v>1206</c:v>
                </c:pt>
                <c:pt idx="2">
                  <c:v>1039</c:v>
                </c:pt>
                <c:pt idx="3">
                  <c:v>904</c:v>
                </c:pt>
                <c:pt idx="4">
                  <c:v>766</c:v>
                </c:pt>
                <c:pt idx="5">
                  <c:v>736</c:v>
                </c:pt>
                <c:pt idx="6">
                  <c:v>640</c:v>
                </c:pt>
                <c:pt idx="7">
                  <c:v>540</c:v>
                </c:pt>
                <c:pt idx="8">
                  <c:v>500</c:v>
                </c:pt>
                <c:pt idx="9">
                  <c:v>470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Rating 1</c:v>
                  </c:pt>
                  <c:pt idx="1">
                    <c:v>Rating 2</c:v>
                  </c:pt>
                  <c:pt idx="2">
                    <c:v>Rating 3</c:v>
                  </c:pt>
                  <c:pt idx="3">
                    <c:v>Rating 4</c:v>
                  </c:pt>
                  <c:pt idx="4">
                    <c:v>Rating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21.7</c:v>
                </c:pt>
                <c:pt idx="1">
                  <c:v>19.4</c:v>
                </c:pt>
                <c:pt idx="2">
                  <c:v>14.3</c:v>
                </c:pt>
                <c:pt idx="3">
                  <c:v>11.2</c:v>
                </c:pt>
                <c:pt idx="4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4B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73.9</c:v>
                </c:pt>
                <c:pt idx="1">
                  <c:v>19</c:v>
                </c:pt>
                <c:pt idx="2">
                  <c:v>5.6</c:v>
                </c:pt>
                <c:pt idx="3">
                  <c:v>1.5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Value (R$)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F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Credit Card</c:v>
                  </c:pt>
                  <c:pt idx="1">
                    <c:v>Debit Card</c:v>
                  </c:pt>
                  <c:pt idx="2">
                    <c:v>Boleto</c:v>
                  </c:pt>
                  <c:pt idx="3">
                    <c:v>Voucher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178</c:v>
                </c:pt>
                <c:pt idx="1">
                  <c:v>142</c:v>
                </c:pt>
                <c:pt idx="2">
                  <c:v>137</c:v>
                </c:pt>
                <c:pt idx="3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</c:v>
                  </c:pt>
                  <c:pt idx="1">
                    <c:v>MG</c:v>
                  </c:pt>
                  <c:pt idx="2">
                    <c:v>PR</c:v>
                  </c:pt>
                  <c:pt idx="3">
                    <c:v>RJ</c:v>
                  </c:pt>
                  <c:pt idx="4">
                    <c:v>SC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1849</c:v>
                </c:pt>
                <c:pt idx="1">
                  <c:v>232</c:v>
                </c:pt>
                <c:pt idx="2">
                  <c:v>189</c:v>
                </c:pt>
                <c:pt idx="3">
                  <c:v>170</c:v>
                </c:pt>
                <c:pt idx="4">
                  <c:v>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1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E3A70"/>
          </a:solidFill>
          <a:ln w="12700">
            <a:solidFill>
              <a:srgbClr val="1E3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insights on orders, customers, payments,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&amp; seller analytics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70"/>
          </a:solidFill>
          <a:ln w="12700">
            <a:solidFill>
              <a:srgbClr val="1E3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Python · Power BI   |   FY 2016 – 2018   |   100K+ Orders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62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tools &amp; methodology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38528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40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monthly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16936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169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19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cohort &amp; repeat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95344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9534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category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60120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601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014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362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delivery, late orders, ratings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93852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38528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3852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993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340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types &amp; avg values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169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16936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1693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Analytics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319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sellers, performance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89534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95344"/>
            <a:ext cx="457200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89534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37744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770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99K+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7744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392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7744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014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37744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508760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50876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18888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18888" y="1819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joins, views, aggregations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258568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258568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18888" y="2569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EDA, visualizations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3008376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300837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18888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18888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reports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758184"/>
            <a:ext cx="41148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3758184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18888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18888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RFM, cohort, delivery &amp; seller KPIs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R$ 16.0M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1448" y="914400"/>
            <a:ext cx="19202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R$ 112,650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41448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75704" y="914400"/>
            <a:ext cx="19202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Q1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75704" y="1444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 Period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(2017–2018)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24028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76072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Status</a:t>
            </a:r>
            <a:endParaRPr lang="en-US" sz="11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760720" y="2240280"/>
          <a:ext cx="3108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Cohort — Active Users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70432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760720" y="868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760720" y="1170432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60720" y="1170432"/>
            <a:ext cx="640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97880" y="120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2,400+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995160" y="1207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97880" y="1481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freq, high spend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60720" y="1856232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60720" y="1856232"/>
            <a:ext cx="6400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892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8,100+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1892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97880" y="2167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once, dormant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760720" y="2542032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0" y="2542032"/>
            <a:ext cx="64008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9788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995160" y="2578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897880" y="28529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760720" y="3227832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760720" y="3227832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97880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14K+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995160" y="3264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897880" y="35387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purchase 2018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74320" y="3840480"/>
            <a:ext cx="8595360" cy="77724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7764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686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97% of customers bought only once — strong opportunity for loyalty programs, re-engagement campaigns &amp; personalized offers.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by Revenue (R$K)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70432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868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70432"/>
          <a:ext cx="310896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ID (Short)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aca2eb7d...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R$ 6,729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99a4788c...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R$ 6,102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422879e2...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R$ 5,887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d1c427f1...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R$ 5,452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53759a2b...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R$ 5,104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2743200"/>
            <a:ext cx="3108960" cy="2103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521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5216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 all categories in total revenue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852160" y="3639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(Computers) show highest avg. order value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852160" y="4032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total product categories tracked in dataset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852160" y="4425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spikes in Toys &amp; Games in Nov–Dec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&amp; Ratings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54864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265176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960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914400"/>
            <a:ext cx="265176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960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0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26480" y="914400"/>
            <a:ext cx="265176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960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126480" y="1435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 by Review Rating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286000"/>
          <a:ext cx="5029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5486400" y="1993392"/>
            <a:ext cx="3383280" cy="28072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5778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Insights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7840" y="25420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 orders took 22 days on average — 2.3× slower than Rating 5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577840" y="3063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(≤9 days) strongly correlates with 5-star reviews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577840" y="3584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7,827 orders arrived after the estimated delivery date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577840" y="41056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last-mile logistics can boost NPS significantly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Analysis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7160"/>
            <a:ext cx="54864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70432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0" y="868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Payment Value by Method (R$)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170432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4572000" y="3657600"/>
            <a:ext cx="4297680" cy="11612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79476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20640" y="3703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Credit card dominates at 74%. Offering exclusive discounts or cashback on credit card transactions can further drive conversion. Consider Boleto installment promotions to capture mid-segment buyers.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Analytics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Sellers by Revenue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4114800" cy="1737360"/>
        </p:xfrm>
        <a:graphic>
          <a:graphicData uri="http://schemas.openxmlformats.org/drawingml/2006/table">
            <a:tbl>
              <a:tblPr/>
              <a:tblGrid>
                <a:gridCol w="365760"/>
                <a:gridCol w="1645920"/>
                <a:gridCol w="1280160"/>
                <a:gridCol w="82296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Seller 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 (R$)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6560211a...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229,473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1,161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4a3ca9cb...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202,615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972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1f50f920...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196,804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615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7c67e996...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178,300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542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da8622c5...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155,900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4B"/>
                          </a:solidFill>
                        </a:rPr>
                        <a:t>480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by State (Top 5)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3310128"/>
          <a:ext cx="41148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663440" y="914400"/>
            <a:ext cx="4206240" cy="390448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Insights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0" y="1444752"/>
            <a:ext cx="3931920" cy="530352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 total sellers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46320" y="1719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accounts for 60% of all sellers on the platform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54880" y="2066544"/>
            <a:ext cx="3931920" cy="530352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seller: R$ 229K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46320" y="2340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with 1,161 orders — clear market leader among peers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54880" y="2688336"/>
            <a:ext cx="3931920" cy="530352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46320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2962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sellers drive ~15% of total platform revenue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754880" y="3310128"/>
            <a:ext cx="3931920" cy="530352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33467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46320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sellers are in SE Brazil; expansion opportunity in North &amp; NE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754880" y="3931920"/>
            <a:ext cx="3931920" cy="530352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3968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seller revenue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46320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~R$ 5,200 — significant gap between top and median performers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SQL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2148840"/>
            <a:ext cx="21945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33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status,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purchase_time, delivery_time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962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27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905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170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product_id,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freight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133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399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626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227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977640"/>
            <a:ext cx="2377440" cy="7772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2793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51760" y="1481328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651760" y="3310128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572000" y="1261872"/>
            <a:ext cx="0" cy="93268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852160" y="1481328"/>
            <a:ext cx="731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52160" y="3310128"/>
            <a:ext cx="731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72000" y="2834640"/>
            <a:ext cx="0" cy="11887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queries crafted: aggregations, window functions, joins across 8 tables, RFM segmentation &amp; cohort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254"/>
          </a:solidFill>
          <a:ln w="12700">
            <a:solidFill>
              <a:srgbClr val="0D2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98448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00584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248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3441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customers buy only once. Introduce points, coupons &amp; re-engagement emails for repeat purchases.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98448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21040" y="100584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2104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321808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Last-Mile Delivery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21808" y="134416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7,827 late deliveries hurt ratings. Partner with faster carriers in states with high late-delivery rates.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15768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840480" y="242316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8404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41248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Offers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1248" y="27614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use credit cards. Offer cashback or EMI promotions to increase average order value.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15768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321040" y="242316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32104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321808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Mid-Tier Sellers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21808" y="276148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gap between top 10 and median sellers. Provide training, tools and visibility boosts to mid performers.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74320" y="374904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33088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840480" y="384048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84048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841248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Campaign Planning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41248" y="417880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spike in Nov–Jan. Pre-position inventory and run flash sales in Health, Beauty &amp; Electronics.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754880" y="3749040"/>
            <a:ext cx="4206240" cy="1234440"/>
          </a:xfrm>
          <a:prstGeom prst="rect">
            <a:avLst/>
          </a:prstGeom>
          <a:solidFill>
            <a:srgbClr val="1E3A70"/>
          </a:solidFill>
          <a:ln w="12700">
            <a:solidFill>
              <a:srgbClr val="152B5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133088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321040" y="3840480"/>
            <a:ext cx="45720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32104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321808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321808" y="417880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Northeast Brazil are underserved. Attract sellers and run region-specific promotions to grow market share.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E3A70"/>
          </a:solidFill>
          <a:ln w="12700">
            <a:solidFill>
              <a:srgbClr val="1E3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486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MySQL · Python · Power BI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2254"/>
          </a:solidFill>
          <a:ln w="12700">
            <a:solidFill>
              <a:srgbClr val="0D22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Olist Store, Kaggle   |   100K Orders   |   2016–2018   |   All values in BRL (R$)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Brazilian E-Commerce Analysis</dc:title>
  <dc:subject>PptxGenJS Presentation</dc:subject>
  <dc:creator>PptxGenJS</dc:creator>
  <cp:lastModifiedBy>PptxGenJS</cp:lastModifiedBy>
  <cp:revision>1</cp:revision>
  <dcterms:created xsi:type="dcterms:W3CDTF">2026-05-02T04:46:00Z</dcterms:created>
  <dcterms:modified xsi:type="dcterms:W3CDTF">2026-05-02T04:46:00Z</dcterms:modified>
</cp:coreProperties>
</file>